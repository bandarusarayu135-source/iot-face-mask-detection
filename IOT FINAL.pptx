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5" r:id="rId9"/>
    <p:sldId id="269" r:id="rId10"/>
    <p:sldId id="266" r:id="rId11"/>
    <p:sldId id="267" r:id="rId12"/>
    <p:sldId id="273" r:id="rId13"/>
    <p:sldId id="274" r:id="rId14"/>
    <p:sldId id="275" r:id="rId15"/>
    <p:sldId id="276"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7" d="100"/>
          <a:sy n="87" d="100"/>
        </p:scale>
        <p:origin x="528"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AA608-45C4-FEDD-A270-213A79D8F4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E6E8EC-61BE-8D65-2430-3EF8FE48A6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26AF61-A520-DA83-19D1-5E4DA8C6BF0F}"/>
              </a:ext>
            </a:extLst>
          </p:cNvPr>
          <p:cNvSpPr>
            <a:spLocks noGrp="1"/>
          </p:cNvSpPr>
          <p:nvPr>
            <p:ph type="dt" sz="half" idx="10"/>
          </p:nvPr>
        </p:nvSpPr>
        <p:spPr/>
        <p:txBody>
          <a:bodyPr/>
          <a:lstStyle/>
          <a:p>
            <a:fld id="{EFA27B49-7A76-4D4B-AD86-8D8B5C27DA21}" type="datetimeFigureOut">
              <a:rPr lang="en-US" smtClean="0"/>
              <a:pPr/>
              <a:t>9/19/2022</a:t>
            </a:fld>
            <a:endParaRPr lang="en-US"/>
          </a:p>
        </p:txBody>
      </p:sp>
      <p:sp>
        <p:nvSpPr>
          <p:cNvPr id="5" name="Footer Placeholder 4">
            <a:extLst>
              <a:ext uri="{FF2B5EF4-FFF2-40B4-BE49-F238E27FC236}">
                <a16:creationId xmlns:a16="http://schemas.microsoft.com/office/drawing/2014/main" id="{1AB02648-9A80-72CD-B401-7B0BE981D0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040C6C-B539-A3CB-4300-A4D21C46FB56}"/>
              </a:ext>
            </a:extLst>
          </p:cNvPr>
          <p:cNvSpPr>
            <a:spLocks noGrp="1"/>
          </p:cNvSpPr>
          <p:nvPr>
            <p:ph type="sldNum" sz="quarter" idx="12"/>
          </p:nvPr>
        </p:nvSpPr>
        <p:spPr/>
        <p:txBody>
          <a:bodyPr/>
          <a:lstStyle/>
          <a:p>
            <a:fld id="{D3A52A04-2535-4E96-8F84-BA80808600DD}" type="slidenum">
              <a:rPr lang="en-US" smtClean="0"/>
              <a:pPr/>
              <a:t>‹#›</a:t>
            </a:fld>
            <a:endParaRPr lang="en-US"/>
          </a:p>
        </p:txBody>
      </p:sp>
    </p:spTree>
    <p:extLst>
      <p:ext uri="{BB962C8B-B14F-4D97-AF65-F5344CB8AC3E}">
        <p14:creationId xmlns:p14="http://schemas.microsoft.com/office/powerpoint/2010/main" val="1235460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717A3-2368-C6D6-9604-9378C550D2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4C40F4-5307-5764-3330-ABBFD763E2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460B36-17C4-2075-274E-154505C3C4A9}"/>
              </a:ext>
            </a:extLst>
          </p:cNvPr>
          <p:cNvSpPr>
            <a:spLocks noGrp="1"/>
          </p:cNvSpPr>
          <p:nvPr>
            <p:ph type="dt" sz="half" idx="10"/>
          </p:nvPr>
        </p:nvSpPr>
        <p:spPr/>
        <p:txBody>
          <a:bodyPr/>
          <a:lstStyle/>
          <a:p>
            <a:fld id="{EFA27B49-7A76-4D4B-AD86-8D8B5C27DA21}" type="datetimeFigureOut">
              <a:rPr lang="en-US" smtClean="0"/>
              <a:pPr/>
              <a:t>9/19/2022</a:t>
            </a:fld>
            <a:endParaRPr lang="en-US"/>
          </a:p>
        </p:txBody>
      </p:sp>
      <p:sp>
        <p:nvSpPr>
          <p:cNvPr id="5" name="Footer Placeholder 4">
            <a:extLst>
              <a:ext uri="{FF2B5EF4-FFF2-40B4-BE49-F238E27FC236}">
                <a16:creationId xmlns:a16="http://schemas.microsoft.com/office/drawing/2014/main" id="{B51B4954-32FB-3DF3-E2A4-1B22A94155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45D99D-87ED-3C09-0A82-A2682FC7A282}"/>
              </a:ext>
            </a:extLst>
          </p:cNvPr>
          <p:cNvSpPr>
            <a:spLocks noGrp="1"/>
          </p:cNvSpPr>
          <p:nvPr>
            <p:ph type="sldNum" sz="quarter" idx="12"/>
          </p:nvPr>
        </p:nvSpPr>
        <p:spPr/>
        <p:txBody>
          <a:bodyPr/>
          <a:lstStyle/>
          <a:p>
            <a:fld id="{D3A52A04-2535-4E96-8F84-BA80808600DD}" type="slidenum">
              <a:rPr lang="en-US" smtClean="0"/>
              <a:pPr/>
              <a:t>‹#›</a:t>
            </a:fld>
            <a:endParaRPr lang="en-US"/>
          </a:p>
        </p:txBody>
      </p:sp>
    </p:spTree>
    <p:extLst>
      <p:ext uri="{BB962C8B-B14F-4D97-AF65-F5344CB8AC3E}">
        <p14:creationId xmlns:p14="http://schemas.microsoft.com/office/powerpoint/2010/main" val="1056926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BFE99-C8BC-8D83-6DC4-124118960B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6550E9-D186-18B6-3790-F28E43C51A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4BFA29-F1C6-F108-C7F7-957D00883813}"/>
              </a:ext>
            </a:extLst>
          </p:cNvPr>
          <p:cNvSpPr>
            <a:spLocks noGrp="1"/>
          </p:cNvSpPr>
          <p:nvPr>
            <p:ph type="dt" sz="half" idx="10"/>
          </p:nvPr>
        </p:nvSpPr>
        <p:spPr/>
        <p:txBody>
          <a:bodyPr/>
          <a:lstStyle/>
          <a:p>
            <a:fld id="{EFA27B49-7A76-4D4B-AD86-8D8B5C27DA21}" type="datetimeFigureOut">
              <a:rPr lang="en-US" smtClean="0"/>
              <a:pPr/>
              <a:t>9/19/2022</a:t>
            </a:fld>
            <a:endParaRPr lang="en-US"/>
          </a:p>
        </p:txBody>
      </p:sp>
      <p:sp>
        <p:nvSpPr>
          <p:cNvPr id="5" name="Footer Placeholder 4">
            <a:extLst>
              <a:ext uri="{FF2B5EF4-FFF2-40B4-BE49-F238E27FC236}">
                <a16:creationId xmlns:a16="http://schemas.microsoft.com/office/drawing/2014/main" id="{2A9A1983-E25D-A164-9540-4F123B2F71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6A9355-BC24-F0CF-2ED2-30EC4B3E1E16}"/>
              </a:ext>
            </a:extLst>
          </p:cNvPr>
          <p:cNvSpPr>
            <a:spLocks noGrp="1"/>
          </p:cNvSpPr>
          <p:nvPr>
            <p:ph type="sldNum" sz="quarter" idx="12"/>
          </p:nvPr>
        </p:nvSpPr>
        <p:spPr/>
        <p:txBody>
          <a:bodyPr/>
          <a:lstStyle/>
          <a:p>
            <a:fld id="{D3A52A04-2535-4E96-8F84-BA80808600DD}" type="slidenum">
              <a:rPr lang="en-US" smtClean="0"/>
              <a:pPr/>
              <a:t>‹#›</a:t>
            </a:fld>
            <a:endParaRPr lang="en-US"/>
          </a:p>
        </p:txBody>
      </p:sp>
    </p:spTree>
    <p:extLst>
      <p:ext uri="{BB962C8B-B14F-4D97-AF65-F5344CB8AC3E}">
        <p14:creationId xmlns:p14="http://schemas.microsoft.com/office/powerpoint/2010/main" val="450277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4A68-D023-D669-7D09-1AD6E9D06C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9AC707-BB32-8445-0115-6DB860BC74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912579-616F-7080-B2F1-95E4C8E2AA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4EDCB9-2A35-CAC4-1326-5A3FA3FD3BCF}"/>
              </a:ext>
            </a:extLst>
          </p:cNvPr>
          <p:cNvSpPr>
            <a:spLocks noGrp="1"/>
          </p:cNvSpPr>
          <p:nvPr>
            <p:ph type="dt" sz="half" idx="10"/>
          </p:nvPr>
        </p:nvSpPr>
        <p:spPr/>
        <p:txBody>
          <a:bodyPr/>
          <a:lstStyle/>
          <a:p>
            <a:fld id="{EFA27B49-7A76-4D4B-AD86-8D8B5C27DA21}" type="datetimeFigureOut">
              <a:rPr lang="en-US" smtClean="0"/>
              <a:pPr/>
              <a:t>9/19/2022</a:t>
            </a:fld>
            <a:endParaRPr lang="en-US"/>
          </a:p>
        </p:txBody>
      </p:sp>
      <p:sp>
        <p:nvSpPr>
          <p:cNvPr id="6" name="Footer Placeholder 5">
            <a:extLst>
              <a:ext uri="{FF2B5EF4-FFF2-40B4-BE49-F238E27FC236}">
                <a16:creationId xmlns:a16="http://schemas.microsoft.com/office/drawing/2014/main" id="{E41FBA11-F81E-EF5C-98BA-45124A59D5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EA1B22-45E1-1DCD-194F-F73BF686BF93}"/>
              </a:ext>
            </a:extLst>
          </p:cNvPr>
          <p:cNvSpPr>
            <a:spLocks noGrp="1"/>
          </p:cNvSpPr>
          <p:nvPr>
            <p:ph type="sldNum" sz="quarter" idx="12"/>
          </p:nvPr>
        </p:nvSpPr>
        <p:spPr/>
        <p:txBody>
          <a:bodyPr/>
          <a:lstStyle/>
          <a:p>
            <a:fld id="{D3A52A04-2535-4E96-8F84-BA80808600DD}" type="slidenum">
              <a:rPr lang="en-US" smtClean="0"/>
              <a:pPr/>
              <a:t>‹#›</a:t>
            </a:fld>
            <a:endParaRPr lang="en-US"/>
          </a:p>
        </p:txBody>
      </p:sp>
    </p:spTree>
    <p:extLst>
      <p:ext uri="{BB962C8B-B14F-4D97-AF65-F5344CB8AC3E}">
        <p14:creationId xmlns:p14="http://schemas.microsoft.com/office/powerpoint/2010/main" val="2501903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79D4D-FB96-92EC-3487-B01D8FD9CB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3F4400-4C7C-5EEE-26E7-4975B6063C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B8FEA4-8587-3717-61C5-2E704E4AFE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F1E61E-4DB3-4C59-CFB5-B2F0D38771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5DAF53-6317-F551-1289-DECC3ADAE6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D7DEB2-C9A6-6948-54F3-6F54BFC58C66}"/>
              </a:ext>
            </a:extLst>
          </p:cNvPr>
          <p:cNvSpPr>
            <a:spLocks noGrp="1"/>
          </p:cNvSpPr>
          <p:nvPr>
            <p:ph type="dt" sz="half" idx="10"/>
          </p:nvPr>
        </p:nvSpPr>
        <p:spPr/>
        <p:txBody>
          <a:bodyPr/>
          <a:lstStyle/>
          <a:p>
            <a:fld id="{EFA27B49-7A76-4D4B-AD86-8D8B5C27DA21}" type="datetimeFigureOut">
              <a:rPr lang="en-US" smtClean="0"/>
              <a:pPr/>
              <a:t>9/19/2022</a:t>
            </a:fld>
            <a:endParaRPr lang="en-US"/>
          </a:p>
        </p:txBody>
      </p:sp>
      <p:sp>
        <p:nvSpPr>
          <p:cNvPr id="8" name="Footer Placeholder 7">
            <a:extLst>
              <a:ext uri="{FF2B5EF4-FFF2-40B4-BE49-F238E27FC236}">
                <a16:creationId xmlns:a16="http://schemas.microsoft.com/office/drawing/2014/main" id="{99E2023C-19EA-0128-60A0-F869ED29C7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7C2A2D-FD74-F10B-A803-9F19FFED55DB}"/>
              </a:ext>
            </a:extLst>
          </p:cNvPr>
          <p:cNvSpPr>
            <a:spLocks noGrp="1"/>
          </p:cNvSpPr>
          <p:nvPr>
            <p:ph type="sldNum" sz="quarter" idx="12"/>
          </p:nvPr>
        </p:nvSpPr>
        <p:spPr/>
        <p:txBody>
          <a:bodyPr/>
          <a:lstStyle/>
          <a:p>
            <a:fld id="{D3A52A04-2535-4E96-8F84-BA80808600DD}" type="slidenum">
              <a:rPr lang="en-US" smtClean="0"/>
              <a:pPr/>
              <a:t>‹#›</a:t>
            </a:fld>
            <a:endParaRPr lang="en-US"/>
          </a:p>
        </p:txBody>
      </p:sp>
    </p:spTree>
    <p:extLst>
      <p:ext uri="{BB962C8B-B14F-4D97-AF65-F5344CB8AC3E}">
        <p14:creationId xmlns:p14="http://schemas.microsoft.com/office/powerpoint/2010/main" val="1740704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D3F55-0137-1496-0015-63E5DB2422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50C92C-EE30-D05B-8A58-6E02D6B2D62B}"/>
              </a:ext>
            </a:extLst>
          </p:cNvPr>
          <p:cNvSpPr>
            <a:spLocks noGrp="1"/>
          </p:cNvSpPr>
          <p:nvPr>
            <p:ph type="dt" sz="half" idx="10"/>
          </p:nvPr>
        </p:nvSpPr>
        <p:spPr/>
        <p:txBody>
          <a:bodyPr/>
          <a:lstStyle/>
          <a:p>
            <a:fld id="{EFA27B49-7A76-4D4B-AD86-8D8B5C27DA21}" type="datetimeFigureOut">
              <a:rPr lang="en-US" smtClean="0"/>
              <a:pPr/>
              <a:t>9/19/2022</a:t>
            </a:fld>
            <a:endParaRPr lang="en-US"/>
          </a:p>
        </p:txBody>
      </p:sp>
      <p:sp>
        <p:nvSpPr>
          <p:cNvPr id="4" name="Footer Placeholder 3">
            <a:extLst>
              <a:ext uri="{FF2B5EF4-FFF2-40B4-BE49-F238E27FC236}">
                <a16:creationId xmlns:a16="http://schemas.microsoft.com/office/drawing/2014/main" id="{AD8079EA-48E5-F851-9909-8C13DCB34C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2D15A6-34E6-40D4-5CC8-D5F70FB785DA}"/>
              </a:ext>
            </a:extLst>
          </p:cNvPr>
          <p:cNvSpPr>
            <a:spLocks noGrp="1"/>
          </p:cNvSpPr>
          <p:nvPr>
            <p:ph type="sldNum" sz="quarter" idx="12"/>
          </p:nvPr>
        </p:nvSpPr>
        <p:spPr/>
        <p:txBody>
          <a:bodyPr/>
          <a:lstStyle/>
          <a:p>
            <a:fld id="{D3A52A04-2535-4E96-8F84-BA80808600DD}" type="slidenum">
              <a:rPr lang="en-US" smtClean="0"/>
              <a:pPr/>
              <a:t>‹#›</a:t>
            </a:fld>
            <a:endParaRPr lang="en-US"/>
          </a:p>
        </p:txBody>
      </p:sp>
    </p:spTree>
    <p:extLst>
      <p:ext uri="{BB962C8B-B14F-4D97-AF65-F5344CB8AC3E}">
        <p14:creationId xmlns:p14="http://schemas.microsoft.com/office/powerpoint/2010/main" val="3213025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CD8BA3-4EEF-C2AC-ECF6-403FE6AC93D6}"/>
              </a:ext>
            </a:extLst>
          </p:cNvPr>
          <p:cNvSpPr>
            <a:spLocks noGrp="1"/>
          </p:cNvSpPr>
          <p:nvPr>
            <p:ph type="dt" sz="half" idx="10"/>
          </p:nvPr>
        </p:nvSpPr>
        <p:spPr/>
        <p:txBody>
          <a:bodyPr/>
          <a:lstStyle/>
          <a:p>
            <a:fld id="{EFA27B49-7A76-4D4B-AD86-8D8B5C27DA21}" type="datetimeFigureOut">
              <a:rPr lang="en-US" smtClean="0"/>
              <a:pPr/>
              <a:t>9/19/2022</a:t>
            </a:fld>
            <a:endParaRPr lang="en-US"/>
          </a:p>
        </p:txBody>
      </p:sp>
      <p:sp>
        <p:nvSpPr>
          <p:cNvPr id="3" name="Footer Placeholder 2">
            <a:extLst>
              <a:ext uri="{FF2B5EF4-FFF2-40B4-BE49-F238E27FC236}">
                <a16:creationId xmlns:a16="http://schemas.microsoft.com/office/drawing/2014/main" id="{970E71C5-705B-4E54-C197-6936B6D1E2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234D5B-F8FD-EE0E-1637-641241B4750E}"/>
              </a:ext>
            </a:extLst>
          </p:cNvPr>
          <p:cNvSpPr>
            <a:spLocks noGrp="1"/>
          </p:cNvSpPr>
          <p:nvPr>
            <p:ph type="sldNum" sz="quarter" idx="12"/>
          </p:nvPr>
        </p:nvSpPr>
        <p:spPr/>
        <p:txBody>
          <a:bodyPr/>
          <a:lstStyle/>
          <a:p>
            <a:fld id="{D3A52A04-2535-4E96-8F84-BA80808600DD}" type="slidenum">
              <a:rPr lang="en-US" smtClean="0"/>
              <a:pPr/>
              <a:t>‹#›</a:t>
            </a:fld>
            <a:endParaRPr lang="en-US"/>
          </a:p>
        </p:txBody>
      </p:sp>
    </p:spTree>
    <p:extLst>
      <p:ext uri="{BB962C8B-B14F-4D97-AF65-F5344CB8AC3E}">
        <p14:creationId xmlns:p14="http://schemas.microsoft.com/office/powerpoint/2010/main" val="904555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83156-F4B0-9A44-8FEB-D1D4F72B48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450014-7F11-F694-AD53-BBEFAFBF6E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6815A4-1D8D-0880-0AC8-A8CE05C500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59BCE8-B7FD-065F-886A-0DCE0D5F8109}"/>
              </a:ext>
            </a:extLst>
          </p:cNvPr>
          <p:cNvSpPr>
            <a:spLocks noGrp="1"/>
          </p:cNvSpPr>
          <p:nvPr>
            <p:ph type="dt" sz="half" idx="10"/>
          </p:nvPr>
        </p:nvSpPr>
        <p:spPr/>
        <p:txBody>
          <a:bodyPr/>
          <a:lstStyle/>
          <a:p>
            <a:fld id="{EFA27B49-7A76-4D4B-AD86-8D8B5C27DA21}" type="datetimeFigureOut">
              <a:rPr lang="en-US" smtClean="0"/>
              <a:pPr/>
              <a:t>9/19/2022</a:t>
            </a:fld>
            <a:endParaRPr lang="en-US"/>
          </a:p>
        </p:txBody>
      </p:sp>
      <p:sp>
        <p:nvSpPr>
          <p:cNvPr id="6" name="Footer Placeholder 5">
            <a:extLst>
              <a:ext uri="{FF2B5EF4-FFF2-40B4-BE49-F238E27FC236}">
                <a16:creationId xmlns:a16="http://schemas.microsoft.com/office/drawing/2014/main" id="{D15856BB-B8EB-9470-CBD3-1DA998358D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DF304E-DEFB-B1B8-6E20-2D948EB55AC9}"/>
              </a:ext>
            </a:extLst>
          </p:cNvPr>
          <p:cNvSpPr>
            <a:spLocks noGrp="1"/>
          </p:cNvSpPr>
          <p:nvPr>
            <p:ph type="sldNum" sz="quarter" idx="12"/>
          </p:nvPr>
        </p:nvSpPr>
        <p:spPr/>
        <p:txBody>
          <a:bodyPr/>
          <a:lstStyle/>
          <a:p>
            <a:fld id="{D3A52A04-2535-4E96-8F84-BA80808600DD}" type="slidenum">
              <a:rPr lang="en-US" smtClean="0"/>
              <a:pPr/>
              <a:t>‹#›</a:t>
            </a:fld>
            <a:endParaRPr lang="en-US"/>
          </a:p>
        </p:txBody>
      </p:sp>
    </p:spTree>
    <p:extLst>
      <p:ext uri="{BB962C8B-B14F-4D97-AF65-F5344CB8AC3E}">
        <p14:creationId xmlns:p14="http://schemas.microsoft.com/office/powerpoint/2010/main" val="3201406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F8424-E91B-7C60-55F9-B4B2AFA593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B1588F3-3133-05DE-F36E-64A273AD51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0EE099-2F27-80DD-CE1D-B21625DCC2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FC100E-1E07-8812-7A5F-A325BBB2B052}"/>
              </a:ext>
            </a:extLst>
          </p:cNvPr>
          <p:cNvSpPr>
            <a:spLocks noGrp="1"/>
          </p:cNvSpPr>
          <p:nvPr>
            <p:ph type="dt" sz="half" idx="10"/>
          </p:nvPr>
        </p:nvSpPr>
        <p:spPr/>
        <p:txBody>
          <a:bodyPr/>
          <a:lstStyle/>
          <a:p>
            <a:fld id="{EFA27B49-7A76-4D4B-AD86-8D8B5C27DA21}" type="datetimeFigureOut">
              <a:rPr lang="en-US" smtClean="0"/>
              <a:pPr/>
              <a:t>9/19/2022</a:t>
            </a:fld>
            <a:endParaRPr lang="en-US"/>
          </a:p>
        </p:txBody>
      </p:sp>
      <p:sp>
        <p:nvSpPr>
          <p:cNvPr id="6" name="Footer Placeholder 5">
            <a:extLst>
              <a:ext uri="{FF2B5EF4-FFF2-40B4-BE49-F238E27FC236}">
                <a16:creationId xmlns:a16="http://schemas.microsoft.com/office/drawing/2014/main" id="{DA13A5F5-947A-45DB-9F75-42C073DC25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08F228-1A18-3263-268A-EEF6D5A33C58}"/>
              </a:ext>
            </a:extLst>
          </p:cNvPr>
          <p:cNvSpPr>
            <a:spLocks noGrp="1"/>
          </p:cNvSpPr>
          <p:nvPr>
            <p:ph type="sldNum" sz="quarter" idx="12"/>
          </p:nvPr>
        </p:nvSpPr>
        <p:spPr/>
        <p:txBody>
          <a:bodyPr/>
          <a:lstStyle/>
          <a:p>
            <a:fld id="{D3A52A04-2535-4E96-8F84-BA80808600DD}" type="slidenum">
              <a:rPr lang="en-US" smtClean="0"/>
              <a:pPr/>
              <a:t>‹#›</a:t>
            </a:fld>
            <a:endParaRPr lang="en-US"/>
          </a:p>
        </p:txBody>
      </p:sp>
    </p:spTree>
    <p:extLst>
      <p:ext uri="{BB962C8B-B14F-4D97-AF65-F5344CB8AC3E}">
        <p14:creationId xmlns:p14="http://schemas.microsoft.com/office/powerpoint/2010/main" val="550102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3F14D-64B0-FCC2-6F5C-C1722E047F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DD120C-3B64-B335-1254-3F81D133CE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94D369-5665-FAC0-E127-7EE584114703}"/>
              </a:ext>
            </a:extLst>
          </p:cNvPr>
          <p:cNvSpPr>
            <a:spLocks noGrp="1"/>
          </p:cNvSpPr>
          <p:nvPr>
            <p:ph type="dt" sz="half" idx="10"/>
          </p:nvPr>
        </p:nvSpPr>
        <p:spPr/>
        <p:txBody>
          <a:bodyPr/>
          <a:lstStyle/>
          <a:p>
            <a:fld id="{EFA27B49-7A76-4D4B-AD86-8D8B5C27DA21}" type="datetimeFigureOut">
              <a:rPr lang="en-US" smtClean="0"/>
              <a:pPr/>
              <a:t>9/19/2022</a:t>
            </a:fld>
            <a:endParaRPr lang="en-US"/>
          </a:p>
        </p:txBody>
      </p:sp>
      <p:sp>
        <p:nvSpPr>
          <p:cNvPr id="5" name="Footer Placeholder 4">
            <a:extLst>
              <a:ext uri="{FF2B5EF4-FFF2-40B4-BE49-F238E27FC236}">
                <a16:creationId xmlns:a16="http://schemas.microsoft.com/office/drawing/2014/main" id="{2F5F698A-FB9F-0B13-D757-D75CAF5329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3AD46C-1D20-20A8-DB68-1D5B9D768CDB}"/>
              </a:ext>
            </a:extLst>
          </p:cNvPr>
          <p:cNvSpPr>
            <a:spLocks noGrp="1"/>
          </p:cNvSpPr>
          <p:nvPr>
            <p:ph type="sldNum" sz="quarter" idx="12"/>
          </p:nvPr>
        </p:nvSpPr>
        <p:spPr/>
        <p:txBody>
          <a:bodyPr/>
          <a:lstStyle/>
          <a:p>
            <a:fld id="{D3A52A04-2535-4E96-8F84-BA80808600DD}" type="slidenum">
              <a:rPr lang="en-US" smtClean="0"/>
              <a:pPr/>
              <a:t>‹#›</a:t>
            </a:fld>
            <a:endParaRPr lang="en-US"/>
          </a:p>
        </p:txBody>
      </p:sp>
    </p:spTree>
    <p:extLst>
      <p:ext uri="{BB962C8B-B14F-4D97-AF65-F5344CB8AC3E}">
        <p14:creationId xmlns:p14="http://schemas.microsoft.com/office/powerpoint/2010/main" val="2603493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E51AC6-FF44-702B-7976-EE77148A10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95B267-8456-5DD0-B84C-7604F29AD8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704F8B-2A35-211D-555D-270E3A87FAF5}"/>
              </a:ext>
            </a:extLst>
          </p:cNvPr>
          <p:cNvSpPr>
            <a:spLocks noGrp="1"/>
          </p:cNvSpPr>
          <p:nvPr>
            <p:ph type="dt" sz="half" idx="10"/>
          </p:nvPr>
        </p:nvSpPr>
        <p:spPr/>
        <p:txBody>
          <a:bodyPr/>
          <a:lstStyle/>
          <a:p>
            <a:fld id="{EFA27B49-7A76-4D4B-AD86-8D8B5C27DA21}" type="datetimeFigureOut">
              <a:rPr lang="en-US" smtClean="0"/>
              <a:pPr/>
              <a:t>9/19/2022</a:t>
            </a:fld>
            <a:endParaRPr lang="en-US"/>
          </a:p>
        </p:txBody>
      </p:sp>
      <p:sp>
        <p:nvSpPr>
          <p:cNvPr id="5" name="Footer Placeholder 4">
            <a:extLst>
              <a:ext uri="{FF2B5EF4-FFF2-40B4-BE49-F238E27FC236}">
                <a16:creationId xmlns:a16="http://schemas.microsoft.com/office/drawing/2014/main" id="{F2841A35-76E7-7FDA-06A1-4BE652C87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5233F5-9E6A-3F51-2357-29489AABB8E1}"/>
              </a:ext>
            </a:extLst>
          </p:cNvPr>
          <p:cNvSpPr>
            <a:spLocks noGrp="1"/>
          </p:cNvSpPr>
          <p:nvPr>
            <p:ph type="sldNum" sz="quarter" idx="12"/>
          </p:nvPr>
        </p:nvSpPr>
        <p:spPr/>
        <p:txBody>
          <a:bodyPr/>
          <a:lstStyle/>
          <a:p>
            <a:fld id="{D3A52A04-2535-4E96-8F84-BA80808600DD}" type="slidenum">
              <a:rPr lang="en-US" smtClean="0"/>
              <a:pPr/>
              <a:t>‹#›</a:t>
            </a:fld>
            <a:endParaRPr lang="en-US"/>
          </a:p>
        </p:txBody>
      </p:sp>
    </p:spTree>
    <p:extLst>
      <p:ext uri="{BB962C8B-B14F-4D97-AF65-F5344CB8AC3E}">
        <p14:creationId xmlns:p14="http://schemas.microsoft.com/office/powerpoint/2010/main" val="3115382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8514C8-09BB-B3DA-CB56-7DE7D4E46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2E6EE-C730-56A4-B542-71EB6E0B70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C53E85-1327-4C78-3345-F489D58F1F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27B49-7A76-4D4B-AD86-8D8B5C27DA21}" type="datetimeFigureOut">
              <a:rPr lang="en-US" smtClean="0"/>
              <a:pPr/>
              <a:t>9/19/2022</a:t>
            </a:fld>
            <a:endParaRPr lang="en-US"/>
          </a:p>
        </p:txBody>
      </p:sp>
      <p:sp>
        <p:nvSpPr>
          <p:cNvPr id="5" name="Footer Placeholder 4">
            <a:extLst>
              <a:ext uri="{FF2B5EF4-FFF2-40B4-BE49-F238E27FC236}">
                <a16:creationId xmlns:a16="http://schemas.microsoft.com/office/drawing/2014/main" id="{FE246427-77E1-D450-F472-7D85E3ABFE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5BF5F78-14F5-6AD7-868F-35E0702016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A52A04-2535-4E96-8F84-BA80808600DD}" type="slidenum">
              <a:rPr lang="en-US" smtClean="0"/>
              <a:pPr/>
              <a:t>‹#›</a:t>
            </a:fld>
            <a:endParaRPr lang="en-US"/>
          </a:p>
        </p:txBody>
      </p:sp>
    </p:spTree>
    <p:extLst>
      <p:ext uri="{BB962C8B-B14F-4D97-AF65-F5344CB8AC3E}">
        <p14:creationId xmlns:p14="http://schemas.microsoft.com/office/powerpoint/2010/main" val="1978160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1527E7-9B5E-811D-E5E7-47ED3E6AA857}"/>
              </a:ext>
            </a:extLst>
          </p:cNvPr>
          <p:cNvPicPr>
            <a:picLocks noChangeAspect="1"/>
          </p:cNvPicPr>
          <p:nvPr/>
        </p:nvPicPr>
        <p:blipFill>
          <a:blip r:embed="rId2"/>
          <a:stretch>
            <a:fillRect/>
          </a:stretch>
        </p:blipFill>
        <p:spPr>
          <a:xfrm>
            <a:off x="4545494" y="0"/>
            <a:ext cx="2531165" cy="2344806"/>
          </a:xfrm>
          <a:prstGeom prst="rect">
            <a:avLst/>
          </a:prstGeom>
        </p:spPr>
      </p:pic>
      <p:sp>
        <p:nvSpPr>
          <p:cNvPr id="4" name="TextBox 3">
            <a:extLst>
              <a:ext uri="{FF2B5EF4-FFF2-40B4-BE49-F238E27FC236}">
                <a16:creationId xmlns:a16="http://schemas.microsoft.com/office/drawing/2014/main" id="{90AB1020-B964-4FD0-DC0D-497B07164336}"/>
              </a:ext>
            </a:extLst>
          </p:cNvPr>
          <p:cNvSpPr txBox="1"/>
          <p:nvPr/>
        </p:nvSpPr>
        <p:spPr>
          <a:xfrm>
            <a:off x="1741709" y="2296422"/>
            <a:ext cx="9209827" cy="1200329"/>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IOT FACE MASK DETECTION AND BODY           TEMPERATURE</a:t>
            </a:r>
          </a:p>
        </p:txBody>
      </p:sp>
      <p:sp>
        <p:nvSpPr>
          <p:cNvPr id="5" name="TextBox 4">
            <a:extLst>
              <a:ext uri="{FF2B5EF4-FFF2-40B4-BE49-F238E27FC236}">
                <a16:creationId xmlns:a16="http://schemas.microsoft.com/office/drawing/2014/main" id="{78A8FBD8-D6F4-54F8-AB48-07D3B88AD308}"/>
              </a:ext>
            </a:extLst>
          </p:cNvPr>
          <p:cNvSpPr txBox="1"/>
          <p:nvPr/>
        </p:nvSpPr>
        <p:spPr>
          <a:xfrm>
            <a:off x="3465287" y="3415951"/>
            <a:ext cx="6327915" cy="193899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A.LOKESH YADAV -21K81A7404</a:t>
            </a:r>
          </a:p>
          <a:p>
            <a:r>
              <a:rPr lang="en-US" sz="2400" dirty="0">
                <a:latin typeface="Times New Roman" panose="02020603050405020304" pitchFamily="18" charset="0"/>
                <a:cs typeface="Times New Roman" panose="02020603050405020304" pitchFamily="18" charset="0"/>
              </a:rPr>
              <a:t>B.SARAYU              - 21K81A7405</a:t>
            </a:r>
          </a:p>
          <a:p>
            <a:r>
              <a:rPr lang="en-US" sz="2400" dirty="0">
                <a:latin typeface="Times New Roman" panose="02020603050405020304" pitchFamily="18" charset="0"/>
                <a:cs typeface="Times New Roman" panose="02020603050405020304" pitchFamily="18" charset="0"/>
              </a:rPr>
              <a:t>B.VENKATESH       - 21K81A7406 </a:t>
            </a:r>
          </a:p>
          <a:p>
            <a:r>
              <a:rPr lang="en-US" sz="2400" dirty="0">
                <a:latin typeface="Times New Roman" panose="02020603050405020304" pitchFamily="18" charset="0"/>
                <a:cs typeface="Times New Roman" panose="02020603050405020304" pitchFamily="18" charset="0"/>
              </a:rPr>
              <a:t>B.SANDHYA           - 21K81A7407 </a:t>
            </a:r>
            <a:r>
              <a:rPr lang="en-US" sz="2400" dirty="0"/>
              <a:t>  </a:t>
            </a:r>
          </a:p>
          <a:p>
            <a:endParaRPr lang="en-US" sz="2400" dirty="0"/>
          </a:p>
        </p:txBody>
      </p:sp>
      <p:sp>
        <p:nvSpPr>
          <p:cNvPr id="6" name="TextBox 5">
            <a:extLst>
              <a:ext uri="{FF2B5EF4-FFF2-40B4-BE49-F238E27FC236}">
                <a16:creationId xmlns:a16="http://schemas.microsoft.com/office/drawing/2014/main" id="{83915A7F-D88C-52CA-76C5-32201225902E}"/>
              </a:ext>
            </a:extLst>
          </p:cNvPr>
          <p:cNvSpPr txBox="1"/>
          <p:nvPr/>
        </p:nvSpPr>
        <p:spPr>
          <a:xfrm>
            <a:off x="3099466" y="4895719"/>
            <a:ext cx="6672472" cy="156966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UNDER THE GUIDANCE OF </a:t>
            </a:r>
          </a:p>
          <a:p>
            <a:r>
              <a:rPr lang="en-US" sz="2400" dirty="0">
                <a:latin typeface="Times New Roman" panose="02020603050405020304" pitchFamily="18" charset="0"/>
                <a:cs typeface="Times New Roman" panose="02020603050405020304" pitchFamily="18" charset="0"/>
              </a:rPr>
              <a:t>                     MALI BABU</a:t>
            </a:r>
          </a:p>
          <a:p>
            <a:r>
              <a:rPr lang="en-US" sz="2400" dirty="0">
                <a:latin typeface="Times New Roman" panose="02020603050405020304" pitchFamily="18" charset="0"/>
                <a:cs typeface="Times New Roman" panose="02020603050405020304" pitchFamily="18" charset="0"/>
              </a:rPr>
              <a:t> ASSISTANT PROFESSOR DEPARTMENT OF                         COMPUTER SCIENCE AND DESIGNING</a:t>
            </a:r>
          </a:p>
        </p:txBody>
      </p:sp>
    </p:spTree>
    <p:extLst>
      <p:ext uri="{BB962C8B-B14F-4D97-AF65-F5344CB8AC3E}">
        <p14:creationId xmlns:p14="http://schemas.microsoft.com/office/powerpoint/2010/main" val="677284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A9069-478C-B7B5-4564-61232AC587A0}"/>
              </a:ext>
            </a:extLst>
          </p:cNvPr>
          <p:cNvSpPr txBox="1"/>
          <p:nvPr/>
        </p:nvSpPr>
        <p:spPr>
          <a:xfrm>
            <a:off x="231913" y="1338469"/>
            <a:ext cx="11728174" cy="489364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first step to detect COVID is by scanning for fever. Also we need to monitor every person for a mask. We have temperature checking systems for every entrance for scanning but manual temperature scanning has a lot of disadvantages. The personnel are not well trained on using temperature scanner devices. There is human error in reading values. Many times people are not barred from entry even after higher temperature readings or no masks. The scanning is skipped by the personnel if supervisors are not watching. Manual scanning system is not suitable for large crowds. To solve this problem we here propose a fully automated temperature scanner and entry provider system. It is a multipurpose system that has a wide range of applications. The system makes use of a contactless temperature scanner and a mask monitor. The scanner is connected directly with a human barrier to bar entry if high temperature or no mask is detected.</a:t>
            </a:r>
          </a:p>
          <a:p>
            <a:r>
              <a:rPr lang="en-US" sz="2400" dirty="0">
                <a:latin typeface="Times New Roman" panose="02020603050405020304" pitchFamily="18" charset="0"/>
                <a:cs typeface="Times New Roman" panose="02020603050405020304" pitchFamily="18" charset="0"/>
              </a:rPr>
              <a:t> KEYWORDS: Raspberry Pi, open CV, python, camera and LCD, covid 19, HDMI/DVI, temperature </a:t>
            </a:r>
            <a:r>
              <a:rPr lang="en-US" sz="2400" dirty="0" err="1">
                <a:latin typeface="Times New Roman" panose="02020603050405020304" pitchFamily="18" charset="0"/>
                <a:cs typeface="Times New Roman" panose="02020603050405020304" pitchFamily="18" charset="0"/>
              </a:rPr>
              <a:t>sensor,IOT</a:t>
            </a:r>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78DC776-504F-CE98-DD6A-64B9A98BFBFC}"/>
              </a:ext>
            </a:extLst>
          </p:cNvPr>
          <p:cNvSpPr txBox="1"/>
          <p:nvPr/>
        </p:nvSpPr>
        <p:spPr>
          <a:xfrm>
            <a:off x="231913" y="486897"/>
            <a:ext cx="3790122"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ABSTRACT :</a:t>
            </a:r>
          </a:p>
        </p:txBody>
      </p:sp>
    </p:spTree>
    <p:extLst>
      <p:ext uri="{BB962C8B-B14F-4D97-AF65-F5344CB8AC3E}">
        <p14:creationId xmlns:p14="http://schemas.microsoft.com/office/powerpoint/2010/main" val="1118918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099DDD1-70BB-E098-196B-6093DACD8BB7}"/>
              </a:ext>
            </a:extLst>
          </p:cNvPr>
          <p:cNvSpPr txBox="1"/>
          <p:nvPr/>
        </p:nvSpPr>
        <p:spPr>
          <a:xfrm>
            <a:off x="357809" y="1351721"/>
            <a:ext cx="11476382" cy="3785652"/>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purpose of the project is to detect the person perfectly wearing mask or not and temperature detection of the person if the both are correct then the door allows the person in and there will be automatic sanitization these consists of temperature sensor, raspberry Pi model 3b also we are using a IOT based technology to store the data and some other components like buzzer, motor, lcd. Having both conditions is instantly allowed inside. The system uses a temperature sensor and camera connected with a raspberry pi system to control the entire operation. The camera is used to scan for masks and temperature sensors for forehead temperature. The raspberry processes the sensor inputs and decides whether the person is to be allowed. In this case the system operates a motor to open the barrier allowing the person to enter the premises. If a person is flagged by the system for high temperature </a:t>
            </a:r>
          </a:p>
        </p:txBody>
      </p:sp>
      <p:sp>
        <p:nvSpPr>
          <p:cNvPr id="5" name="TextBox 4">
            <a:extLst>
              <a:ext uri="{FF2B5EF4-FFF2-40B4-BE49-F238E27FC236}">
                <a16:creationId xmlns:a16="http://schemas.microsoft.com/office/drawing/2014/main" id="{BBC6CFB1-08DD-4B83-6A77-FEC9DFD8052A}"/>
              </a:ext>
            </a:extLst>
          </p:cNvPr>
          <p:cNvSpPr txBox="1"/>
          <p:nvPr/>
        </p:nvSpPr>
        <p:spPr>
          <a:xfrm>
            <a:off x="238539" y="450574"/>
            <a:ext cx="4108174"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INTRODUCTION :</a:t>
            </a:r>
          </a:p>
        </p:txBody>
      </p:sp>
      <p:sp>
        <p:nvSpPr>
          <p:cNvPr id="7" name="TextBox 6">
            <a:extLst>
              <a:ext uri="{FF2B5EF4-FFF2-40B4-BE49-F238E27FC236}">
                <a16:creationId xmlns:a16="http://schemas.microsoft.com/office/drawing/2014/main" id="{A074B8EF-6FCF-9E0C-E36D-2869E67C6946}"/>
              </a:ext>
            </a:extLst>
          </p:cNvPr>
          <p:cNvSpPr txBox="1"/>
          <p:nvPr/>
        </p:nvSpPr>
        <p:spPr>
          <a:xfrm>
            <a:off x="357809" y="5009322"/>
            <a:ext cx="11582400" cy="120032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or no Mask the system glows the red light and bars the person from entry. Also the face and temperature of a person is transmitted over IOT to the server for authorities to take action and test the person for covid.</a:t>
            </a:r>
          </a:p>
        </p:txBody>
      </p:sp>
    </p:spTree>
    <p:extLst>
      <p:ext uri="{BB962C8B-B14F-4D97-AF65-F5344CB8AC3E}">
        <p14:creationId xmlns:p14="http://schemas.microsoft.com/office/powerpoint/2010/main" val="3453439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21C663-B008-8692-8C9F-D79D99C18692}"/>
              </a:ext>
            </a:extLst>
          </p:cNvPr>
          <p:cNvSpPr txBox="1"/>
          <p:nvPr/>
        </p:nvSpPr>
        <p:spPr>
          <a:xfrm>
            <a:off x="238539" y="0"/>
            <a:ext cx="11714921" cy="2677656"/>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Thus the system provides a 100% automated system to prevent the spread of COVID. Raspberry Pi display and connectivity cable any HDMI/DVI monitor and any TV should work as display for the pi. For the best results, we used one with HDMI input, but other connections are available for older devices. Keyboard and mouse will work any standard USB keyboard with our raspberry pi SD card. We recommend an 8GB class 4 SD card, ideally pre installed with NOOBS. We all need a good power supply which can supply at least 2A at 5V for the model 3b Pi. </a:t>
            </a:r>
          </a:p>
        </p:txBody>
      </p:sp>
      <p:pic>
        <p:nvPicPr>
          <p:cNvPr id="5" name="Picture 4">
            <a:extLst>
              <a:ext uri="{FF2B5EF4-FFF2-40B4-BE49-F238E27FC236}">
                <a16:creationId xmlns:a16="http://schemas.microsoft.com/office/drawing/2014/main" id="{0BD8D89A-13A9-A994-0416-B9C3487F55B8}"/>
              </a:ext>
            </a:extLst>
          </p:cNvPr>
          <p:cNvPicPr>
            <a:picLocks noChangeAspect="1"/>
          </p:cNvPicPr>
          <p:nvPr/>
        </p:nvPicPr>
        <p:blipFill>
          <a:blip r:embed="rId2"/>
          <a:stretch>
            <a:fillRect/>
          </a:stretch>
        </p:blipFill>
        <p:spPr>
          <a:xfrm>
            <a:off x="3114262" y="2426633"/>
            <a:ext cx="4333460" cy="3507424"/>
          </a:xfrm>
          <a:prstGeom prst="rect">
            <a:avLst/>
          </a:prstGeom>
        </p:spPr>
      </p:pic>
    </p:spTree>
    <p:extLst>
      <p:ext uri="{BB962C8B-B14F-4D97-AF65-F5344CB8AC3E}">
        <p14:creationId xmlns:p14="http://schemas.microsoft.com/office/powerpoint/2010/main" val="214188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3E8DB3-F2D0-5D9A-C07F-07E6AFD09BDD}"/>
              </a:ext>
            </a:extLst>
          </p:cNvPr>
          <p:cNvSpPr txBox="1"/>
          <p:nvPr/>
        </p:nvSpPr>
        <p:spPr>
          <a:xfrm>
            <a:off x="265044" y="1709531"/>
            <a:ext cx="10177669" cy="3046988"/>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This model consists of raspberry pi and temperature sensor, interfacing circuit, camera, buzzer,</a:t>
            </a:r>
          </a:p>
          <a:p>
            <a:r>
              <a:rPr lang="en-US" sz="2400" dirty="0">
                <a:latin typeface="Times New Roman" panose="02020603050405020304" pitchFamily="18" charset="0"/>
                <a:cs typeface="Times New Roman" panose="02020603050405020304" pitchFamily="18" charset="0"/>
              </a:rPr>
              <a:t>LCD display, driver circuit, Door access and a sanitizer motor.</a:t>
            </a:r>
          </a:p>
          <a:p>
            <a:r>
              <a:rPr lang="en-US" sz="2400" dirty="0">
                <a:latin typeface="Times New Roman" panose="02020603050405020304" pitchFamily="18" charset="0"/>
                <a:cs typeface="Times New Roman" panose="02020603050405020304" pitchFamily="18" charset="0"/>
              </a:rPr>
              <a:t>In the existing model there is only mask detection which detects the face of the person wearing</a:t>
            </a:r>
          </a:p>
          <a:p>
            <a:r>
              <a:rPr lang="en-US" sz="2400" dirty="0">
                <a:latin typeface="Times New Roman" panose="02020603050405020304" pitchFamily="18" charset="0"/>
                <a:cs typeface="Times New Roman" panose="02020603050405020304" pitchFamily="18" charset="0"/>
              </a:rPr>
              <a:t>mask or not on this proposed model we have used the</a:t>
            </a:r>
          </a:p>
          <a:p>
            <a:r>
              <a:rPr lang="en-US" sz="2400" dirty="0">
                <a:latin typeface="Times New Roman" panose="02020603050405020304" pitchFamily="18" charset="0"/>
                <a:cs typeface="Times New Roman" panose="02020603050405020304" pitchFamily="18" charset="0"/>
              </a:rPr>
              <a:t>Fig: Block diagram of Existing model</a:t>
            </a:r>
          </a:p>
          <a:p>
            <a:r>
              <a:rPr lang="en-US" sz="2400" dirty="0">
                <a:latin typeface="Times New Roman" panose="02020603050405020304" pitchFamily="18" charset="0"/>
                <a:cs typeface="Times New Roman" panose="02020603050405020304" pitchFamily="18" charset="0"/>
              </a:rPr>
              <a:t>Temperature sensor and the automatic Sanitization the model.</a:t>
            </a:r>
            <a:r>
              <a:rPr lang="en-US" dirty="0"/>
              <a:t> </a:t>
            </a:r>
          </a:p>
        </p:txBody>
      </p:sp>
      <p:sp>
        <p:nvSpPr>
          <p:cNvPr id="5" name="TextBox 4">
            <a:extLst>
              <a:ext uri="{FF2B5EF4-FFF2-40B4-BE49-F238E27FC236}">
                <a16:creationId xmlns:a16="http://schemas.microsoft.com/office/drawing/2014/main" id="{6C10296A-53A1-6396-12D8-EED7678AA7CC}"/>
              </a:ext>
            </a:extLst>
          </p:cNvPr>
          <p:cNvSpPr txBox="1"/>
          <p:nvPr/>
        </p:nvSpPr>
        <p:spPr>
          <a:xfrm>
            <a:off x="265044" y="437322"/>
            <a:ext cx="7871792"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DESCRIPTION OF EXCITING MODEL</a:t>
            </a:r>
          </a:p>
        </p:txBody>
      </p:sp>
    </p:spTree>
    <p:extLst>
      <p:ext uri="{BB962C8B-B14F-4D97-AF65-F5344CB8AC3E}">
        <p14:creationId xmlns:p14="http://schemas.microsoft.com/office/powerpoint/2010/main" val="2624917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41EED5-7CAA-78E6-F411-1A91C4A02917}"/>
              </a:ext>
            </a:extLst>
          </p:cNvPr>
          <p:cNvSpPr txBox="1"/>
          <p:nvPr/>
        </p:nvSpPr>
        <p:spPr>
          <a:xfrm>
            <a:off x="496956" y="2040835"/>
            <a:ext cx="11198087" cy="3785652"/>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LM35 is an integrated circuit sensor that can be used to measure temperature with an electrical</a:t>
            </a:r>
          </a:p>
          <a:p>
            <a:r>
              <a:rPr lang="en-US" sz="2400" dirty="0">
                <a:latin typeface="Times New Roman" panose="02020603050405020304" pitchFamily="18" charset="0"/>
                <a:cs typeface="Times New Roman" panose="02020603050405020304" pitchFamily="18" charset="0"/>
              </a:rPr>
              <a:t>output proportional to the temperature (in </a:t>
            </a:r>
            <a:r>
              <a:rPr lang="en-US" sz="2400" dirty="0" err="1">
                <a:latin typeface="Times New Roman" panose="02020603050405020304" pitchFamily="18" charset="0"/>
                <a:cs typeface="Times New Roman" panose="02020603050405020304" pitchFamily="18" charset="0"/>
              </a:rPr>
              <a:t>oC</a:t>
            </a:r>
            <a:r>
              <a:rPr lang="en-US" sz="2400" dirty="0">
                <a:latin typeface="Times New Roman" panose="02020603050405020304" pitchFamily="18" charset="0"/>
                <a:cs typeface="Times New Roman" panose="02020603050405020304" pitchFamily="18" charset="0"/>
              </a:rPr>
              <a:t>) The LM35 – An Integrated Circuit Temperature</a:t>
            </a:r>
          </a:p>
          <a:p>
            <a:r>
              <a:rPr lang="en-US" sz="2400" dirty="0">
                <a:latin typeface="Times New Roman" panose="02020603050405020304" pitchFamily="18" charset="0"/>
                <a:cs typeface="Times New Roman" panose="02020603050405020304" pitchFamily="18" charset="0"/>
              </a:rPr>
              <a:t>Sensor.</a:t>
            </a:r>
          </a:p>
          <a:p>
            <a:r>
              <a:rPr lang="en-US" sz="2400" dirty="0">
                <a:latin typeface="Times New Roman" panose="02020603050405020304" pitchFamily="18" charset="0"/>
                <a:cs typeface="Times New Roman" panose="02020603050405020304" pitchFamily="18" charset="0"/>
              </a:rPr>
              <a:t>Why Use LM35s to Measure Temperature or can measure temperature more accurately than using</a:t>
            </a:r>
          </a:p>
          <a:p>
            <a:r>
              <a:rPr lang="en-US" sz="2400" dirty="0">
                <a:latin typeface="Times New Roman" panose="02020603050405020304" pitchFamily="18" charset="0"/>
                <a:cs typeface="Times New Roman" panose="02020603050405020304" pitchFamily="18" charset="0"/>
              </a:rPr>
              <a:t>a thermistor. The sensor circuitry is sealed and not subject to oxidation, etc. The LM35 generates</a:t>
            </a:r>
          </a:p>
          <a:p>
            <a:r>
              <a:rPr lang="en-US" sz="2400" dirty="0">
                <a:latin typeface="Times New Roman" panose="02020603050405020304" pitchFamily="18" charset="0"/>
                <a:cs typeface="Times New Roman" panose="02020603050405020304" pitchFamily="18" charset="0"/>
              </a:rPr>
              <a:t>a higher output voltage than thermocouples and may not re </a:t>
            </a:r>
          </a:p>
        </p:txBody>
      </p:sp>
      <p:sp>
        <p:nvSpPr>
          <p:cNvPr id="4" name="TextBox 3">
            <a:extLst>
              <a:ext uri="{FF2B5EF4-FFF2-40B4-BE49-F238E27FC236}">
                <a16:creationId xmlns:a16="http://schemas.microsoft.com/office/drawing/2014/main" id="{1EBC970B-C829-9C3A-7E85-947D82291BE3}"/>
              </a:ext>
            </a:extLst>
          </p:cNvPr>
          <p:cNvSpPr txBox="1"/>
          <p:nvPr/>
        </p:nvSpPr>
        <p:spPr>
          <a:xfrm>
            <a:off x="496956" y="874643"/>
            <a:ext cx="6877879"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DESCRIPTION OF PROPOSED MODEL :</a:t>
            </a:r>
          </a:p>
        </p:txBody>
      </p:sp>
    </p:spTree>
    <p:extLst>
      <p:ext uri="{BB962C8B-B14F-4D97-AF65-F5344CB8AC3E}">
        <p14:creationId xmlns:p14="http://schemas.microsoft.com/office/powerpoint/2010/main" val="2249411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C39462-0DE0-C03D-53DC-4729A97B5BA5}"/>
              </a:ext>
            </a:extLst>
          </p:cNvPr>
          <p:cNvPicPr>
            <a:picLocks noChangeAspect="1"/>
          </p:cNvPicPr>
          <p:nvPr/>
        </p:nvPicPr>
        <p:blipFill>
          <a:blip r:embed="rId2"/>
          <a:stretch>
            <a:fillRect/>
          </a:stretch>
        </p:blipFill>
        <p:spPr>
          <a:xfrm>
            <a:off x="3049248" y="-119270"/>
            <a:ext cx="6093503" cy="6288156"/>
          </a:xfrm>
          <a:prstGeom prst="rect">
            <a:avLst/>
          </a:prstGeom>
        </p:spPr>
      </p:pic>
      <p:sp>
        <p:nvSpPr>
          <p:cNvPr id="3" name="TextBox 2">
            <a:extLst>
              <a:ext uri="{FF2B5EF4-FFF2-40B4-BE49-F238E27FC236}">
                <a16:creationId xmlns:a16="http://schemas.microsoft.com/office/drawing/2014/main" id="{46423730-54C9-2E98-3163-671BF0CED389}"/>
              </a:ext>
            </a:extLst>
          </p:cNvPr>
          <p:cNvSpPr txBox="1"/>
          <p:nvPr/>
        </p:nvSpPr>
        <p:spPr>
          <a:xfrm>
            <a:off x="2769706" y="5938053"/>
            <a:ext cx="7354956"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FIG : BLOCK DIAGRAM OF PROPOSED MODEL</a:t>
            </a:r>
          </a:p>
        </p:txBody>
      </p:sp>
    </p:spTree>
    <p:extLst>
      <p:ext uri="{BB962C8B-B14F-4D97-AF65-F5344CB8AC3E}">
        <p14:creationId xmlns:p14="http://schemas.microsoft.com/office/powerpoint/2010/main" val="2675758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BC48E9-30F6-BB6F-4751-165D2812983F}"/>
              </a:ext>
            </a:extLst>
          </p:cNvPr>
          <p:cNvPicPr>
            <a:picLocks noChangeAspect="1"/>
          </p:cNvPicPr>
          <p:nvPr/>
        </p:nvPicPr>
        <p:blipFill>
          <a:blip r:embed="rId2"/>
          <a:stretch>
            <a:fillRect/>
          </a:stretch>
        </p:blipFill>
        <p:spPr>
          <a:xfrm>
            <a:off x="-1" y="-49902"/>
            <a:ext cx="12191999" cy="3478902"/>
          </a:xfrm>
          <a:prstGeom prst="rect">
            <a:avLst/>
          </a:prstGeom>
        </p:spPr>
      </p:pic>
      <p:pic>
        <p:nvPicPr>
          <p:cNvPr id="4" name="Picture 3">
            <a:extLst>
              <a:ext uri="{FF2B5EF4-FFF2-40B4-BE49-F238E27FC236}">
                <a16:creationId xmlns:a16="http://schemas.microsoft.com/office/drawing/2014/main" id="{B8F363D8-58A2-735B-6D1C-EC2E372EA2AE}"/>
              </a:ext>
            </a:extLst>
          </p:cNvPr>
          <p:cNvPicPr>
            <a:picLocks noChangeAspect="1"/>
          </p:cNvPicPr>
          <p:nvPr/>
        </p:nvPicPr>
        <p:blipFill>
          <a:blip r:embed="rId3"/>
          <a:stretch>
            <a:fillRect/>
          </a:stretch>
        </p:blipFill>
        <p:spPr>
          <a:xfrm>
            <a:off x="1" y="3429000"/>
            <a:ext cx="12046226" cy="3429000"/>
          </a:xfrm>
          <a:prstGeom prst="rect">
            <a:avLst/>
          </a:prstGeom>
        </p:spPr>
      </p:pic>
    </p:spTree>
    <p:extLst>
      <p:ext uri="{BB962C8B-B14F-4D97-AF65-F5344CB8AC3E}">
        <p14:creationId xmlns:p14="http://schemas.microsoft.com/office/powerpoint/2010/main" val="2488805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0966" y="482886"/>
            <a:ext cx="5835721" cy="523220"/>
          </a:xfrm>
          <a:prstGeom prst="rect">
            <a:avLst/>
          </a:prstGeom>
          <a:noFill/>
        </p:spPr>
        <p:txBody>
          <a:bodyPr wrap="square" rtlCol="0">
            <a:spAutoFit/>
          </a:bodyPr>
          <a:lstStyle/>
          <a:p>
            <a:r>
              <a:rPr lang="en-US" sz="2800" dirty="0">
                <a:latin typeface="Times New Roman" pitchFamily="18" charset="0"/>
                <a:cs typeface="Times New Roman" pitchFamily="18" charset="0"/>
              </a:rPr>
              <a:t>SYSTEM REQUIREMENTS :</a:t>
            </a:r>
          </a:p>
        </p:txBody>
      </p:sp>
      <p:sp>
        <p:nvSpPr>
          <p:cNvPr id="4" name="TextBox 3"/>
          <p:cNvSpPr txBox="1"/>
          <p:nvPr/>
        </p:nvSpPr>
        <p:spPr>
          <a:xfrm>
            <a:off x="421239" y="1818526"/>
            <a:ext cx="9924837" cy="1938992"/>
          </a:xfrm>
          <a:prstGeom prst="rect">
            <a:avLst/>
          </a:prstGeom>
          <a:noFill/>
        </p:spPr>
        <p:txBody>
          <a:bodyPr wrap="square" rtlCol="0">
            <a:spAutoFit/>
          </a:bodyPr>
          <a:lstStyle/>
          <a:p>
            <a:pPr>
              <a:buFont typeface="Wingdings" pitchFamily="2" charset="2"/>
              <a:buChar char="v"/>
            </a:pPr>
            <a:r>
              <a:rPr lang="en-US" sz="2400" dirty="0">
                <a:latin typeface="Times New Roman" pitchFamily="18" charset="0"/>
                <a:cs typeface="Times New Roman" pitchFamily="18" charset="0"/>
              </a:rPr>
              <a:t>RAM                   : 4GB</a:t>
            </a:r>
          </a:p>
          <a:p>
            <a:pPr>
              <a:buFont typeface="Wingdings" pitchFamily="2" charset="2"/>
              <a:buChar char="v"/>
            </a:pPr>
            <a:r>
              <a:rPr lang="en-US" sz="2400" dirty="0">
                <a:latin typeface="Times New Roman" pitchFamily="18" charset="0"/>
                <a:cs typeface="Times New Roman" pitchFamily="18" charset="0"/>
              </a:rPr>
              <a:t>Storage                : 500 GB</a:t>
            </a:r>
          </a:p>
          <a:p>
            <a:pPr>
              <a:buFont typeface="Wingdings" pitchFamily="2" charset="2"/>
              <a:buChar char="v"/>
            </a:pPr>
            <a:r>
              <a:rPr lang="en-US" sz="2400" dirty="0">
                <a:latin typeface="Times New Roman" pitchFamily="18" charset="0"/>
                <a:cs typeface="Times New Roman" pitchFamily="18" charset="0"/>
              </a:rPr>
              <a:t>CPU                     : 2 GHz or faster</a:t>
            </a:r>
          </a:p>
          <a:p>
            <a:pPr>
              <a:buFont typeface="Wingdings" pitchFamily="2" charset="2"/>
              <a:buChar char="v"/>
            </a:pPr>
            <a:r>
              <a:rPr lang="en-US" sz="2400" dirty="0">
                <a:latin typeface="Times New Roman" pitchFamily="18" charset="0"/>
                <a:cs typeface="Times New Roman" pitchFamily="18" charset="0"/>
              </a:rPr>
              <a:t>Architecture         : 32-bit or 64-bit</a:t>
            </a:r>
          </a:p>
          <a:p>
            <a:pPr>
              <a:buFont typeface="Wingdings" pitchFamily="2" charset="2"/>
              <a:buChar char="v"/>
            </a:pPr>
            <a:r>
              <a:rPr lang="en-US" sz="2400" dirty="0">
                <a:latin typeface="Times New Roman" pitchFamily="18" charset="0"/>
                <a:cs typeface="Times New Roman" pitchFamily="18" charset="0"/>
              </a:rPr>
              <a:t>Operating system :windows 7 and above or </a:t>
            </a:r>
            <a:r>
              <a:rPr lang="en-US" sz="2400" dirty="0" err="1">
                <a:latin typeface="Times New Roman" pitchFamily="18" charset="0"/>
                <a:cs typeface="Times New Roman" pitchFamily="18" charset="0"/>
              </a:rPr>
              <a:t>linux</a:t>
            </a:r>
            <a:r>
              <a:rPr lang="en-US" sz="2400" dirty="0">
                <a:latin typeface="Times New Roman" pitchFamily="18" charset="0"/>
                <a:cs typeface="Times New Roman" pitchFamily="18" charset="0"/>
              </a:rPr>
              <a:t> based OS or MAC 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303" y="472611"/>
            <a:ext cx="6195317" cy="523220"/>
          </a:xfrm>
          <a:prstGeom prst="rect">
            <a:avLst/>
          </a:prstGeom>
          <a:noFill/>
        </p:spPr>
        <p:txBody>
          <a:bodyPr wrap="square" rtlCol="0">
            <a:spAutoFit/>
          </a:bodyPr>
          <a:lstStyle/>
          <a:p>
            <a:r>
              <a:rPr lang="en-US" sz="2800" dirty="0">
                <a:latin typeface="Times New Roman" pitchFamily="18" charset="0"/>
                <a:cs typeface="Times New Roman" pitchFamily="18" charset="0"/>
              </a:rPr>
              <a:t>EXPERIMENTAL RESULTS :</a:t>
            </a:r>
          </a:p>
        </p:txBody>
      </p:sp>
      <p:sp>
        <p:nvSpPr>
          <p:cNvPr id="3" name="TextBox 2"/>
          <p:cNvSpPr txBox="1"/>
          <p:nvPr/>
        </p:nvSpPr>
        <p:spPr>
          <a:xfrm>
            <a:off x="0" y="1366463"/>
            <a:ext cx="11935146" cy="6001643"/>
          </a:xfrm>
          <a:prstGeom prst="rect">
            <a:avLst/>
          </a:prstGeom>
          <a:noFill/>
        </p:spPr>
        <p:txBody>
          <a:bodyPr wrap="square" rtlCol="0">
            <a:spAutoFit/>
          </a:bodyPr>
          <a:lstStyle/>
          <a:p>
            <a:r>
              <a:rPr lang="en-US" sz="2400" dirty="0">
                <a:latin typeface="Times New Roman" pitchFamily="18" charset="0"/>
                <a:cs typeface="Times New Roman" pitchFamily="18" charset="0"/>
              </a:rPr>
              <a:t>This study deals with controlling the spread of COVID-19 according to the WHO’s given instructions for public safety and awareness. As we discussed in the methodology section, our proposed model consists of two modules .The first module deals with contact free temperature detection and abnormal temperature individual’s record-keeping system to disinfects using sanitizing liquid. In the second module of our proposed system, we implemented a mask detection and classification system in which our system is trained to detect and classify the individual’s face mask in three classes, which are face with proper mask (FWPM),face with improved mask (FWIPM),and face f without mask(FWOM) while they are passing from SSDWG .The system is trained using different machine learning models, and we achieved good accuracy on the test data in experiments.</a:t>
            </a:r>
          </a:p>
          <a:p>
            <a:r>
              <a:rPr lang="en-US" sz="2400" dirty="0">
                <a:latin typeface="Times New Roman" pitchFamily="18" charset="0"/>
                <a:cs typeface="Times New Roman" pitchFamily="18" charset="0"/>
              </a:rPr>
              <a:t>                Our proposed SSDWG is designed for all kinds of public places, we want to ensure that individuals have to pass from SSDWG .The attached sensors to this gate are activated;</a:t>
            </a:r>
          </a:p>
          <a:p>
            <a:r>
              <a:rPr lang="en-US" sz="2400" dirty="0">
                <a:latin typeface="Times New Roman" pitchFamily="18" charset="0"/>
                <a:cs typeface="Times New Roman" pitchFamily="18" charset="0"/>
              </a:rPr>
              <a:t>A contact-free temperature measuring sensor detects the person’s temperature. The CCTV module captures the image from a surveillance video of the person whose temperature 100F or more than 100F , and system will store the data in the database with status of suspected.</a:t>
            </a:r>
          </a:p>
          <a:p>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11640622" cy="2677656"/>
          </a:xfrm>
          <a:prstGeom prst="rect">
            <a:avLst/>
          </a:prstGeom>
          <a:noFill/>
        </p:spPr>
        <p:txBody>
          <a:bodyPr wrap="square" rtlCol="0">
            <a:spAutoFit/>
          </a:bodyPr>
          <a:lstStyle/>
          <a:p>
            <a:r>
              <a:rPr lang="en-US" sz="2400" dirty="0">
                <a:latin typeface="Times New Roman" pitchFamily="18" charset="0"/>
                <a:cs typeface="Times New Roman" pitchFamily="18" charset="0"/>
              </a:rPr>
              <a:t>As mentioned before, the face mask detection module detects and classifies individuals face mask in three classes : FWPM, FWIPM, and FWOM. The disinfection module showers sanitizing liquid on the person for 10s while passing from </a:t>
            </a:r>
            <a:r>
              <a:rPr lang="en-US" sz="2400" dirty="0" err="1">
                <a:latin typeface="Times New Roman" pitchFamily="18" charset="0"/>
                <a:cs typeface="Times New Roman" pitchFamily="18" charset="0"/>
              </a:rPr>
              <a:t>SSDWG.The</a:t>
            </a:r>
            <a:r>
              <a:rPr lang="en-US" sz="2400" dirty="0">
                <a:latin typeface="Times New Roman" pitchFamily="18" charset="0"/>
                <a:cs typeface="Times New Roman" pitchFamily="18" charset="0"/>
              </a:rPr>
              <a:t> person controlling the entrance can divert suspicious persons for COVID -19 testing. For the experiments, we used three datasets . Our proposed model achieved a high accuracy on the combined dataset using the VGG-16. The comparative  accuracy of VGG-16 on all datasets(MAFA and face-net are available on </a:t>
            </a:r>
            <a:r>
              <a:rPr lang="en-US" sz="2400" dirty="0" err="1">
                <a:latin typeface="Times New Roman" pitchFamily="18" charset="0"/>
                <a:cs typeface="Times New Roman" pitchFamily="18" charset="0"/>
              </a:rPr>
              <a:t>Github,and</a:t>
            </a:r>
            <a:r>
              <a:rPr lang="en-US" sz="2400" dirty="0">
                <a:latin typeface="Times New Roman" pitchFamily="18" charset="0"/>
                <a:cs typeface="Times New Roman" pitchFamily="18" charset="0"/>
              </a:rPr>
              <a:t> third dataset from Bing).</a:t>
            </a:r>
          </a:p>
        </p:txBody>
      </p:sp>
      <p:pic>
        <p:nvPicPr>
          <p:cNvPr id="6149" name="Picture 5"/>
          <p:cNvPicPr>
            <a:picLocks noChangeAspect="1" noChangeArrowheads="1"/>
          </p:cNvPicPr>
          <p:nvPr/>
        </p:nvPicPr>
        <p:blipFill>
          <a:blip r:embed="rId2"/>
          <a:srcRect/>
          <a:stretch>
            <a:fillRect/>
          </a:stretch>
        </p:blipFill>
        <p:spPr bwMode="auto">
          <a:xfrm>
            <a:off x="0" y="2599362"/>
            <a:ext cx="12192000" cy="4258638"/>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OT face Mask &amp; Body Temperature Scanning Entry Barrier For COVID.mp4(1).mp4">
            <a:hlinkClick r:id="" action="ppaction://media"/>
            <a:extLst>
              <a:ext uri="{FF2B5EF4-FFF2-40B4-BE49-F238E27FC236}">
                <a16:creationId xmlns:a16="http://schemas.microsoft.com/office/drawing/2014/main" id="{A985BC4B-62C6-566B-6D19-C3B76CEB708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2045979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OT face Mask &amp; Body Temperature Scanning Entry Barrier For COVID.mp4(0).mp4">
            <a:hlinkClick r:id="" action="ppaction://media"/>
            <a:extLst>
              <a:ext uri="{FF2B5EF4-FFF2-40B4-BE49-F238E27FC236}">
                <a16:creationId xmlns:a16="http://schemas.microsoft.com/office/drawing/2014/main" id="{76991083-0653-AC62-6761-DBB93B79C2F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1004538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5315" y="244427"/>
            <a:ext cx="3692769" cy="523220"/>
          </a:xfrm>
          <a:prstGeom prst="rect">
            <a:avLst/>
          </a:prstGeom>
          <a:noFill/>
        </p:spPr>
        <p:txBody>
          <a:bodyPr wrap="square" rtlCol="0">
            <a:spAutoFit/>
          </a:bodyPr>
          <a:lstStyle/>
          <a:p>
            <a:r>
              <a:rPr lang="en-IN" sz="2800" dirty="0" smtClean="0">
                <a:latin typeface="Times New Roman" panose="02020603050405020304" pitchFamily="18" charset="0"/>
                <a:cs typeface="Times New Roman" panose="02020603050405020304" pitchFamily="18" charset="0"/>
              </a:rPr>
              <a:t>CONCLUSION:</a:t>
            </a:r>
            <a:endParaRPr lang="en-IN"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386862" y="1160585"/>
            <a:ext cx="11676184" cy="2585323"/>
          </a:xfrm>
          <a:prstGeom prst="rect">
            <a:avLst/>
          </a:prstGeom>
        </p:spPr>
        <p:txBody>
          <a:bodyPr wrap="square">
            <a:spAutoFit/>
          </a:bodyPr>
          <a:lstStyle/>
          <a:p>
            <a:r>
              <a:rPr lang="en-US" dirty="0">
                <a:latin typeface="Times New Roman" pitchFamily="18" charset="0"/>
                <a:cs typeface="Times New Roman" pitchFamily="18" charset="0"/>
              </a:rPr>
              <a:t>we have </a:t>
            </a:r>
            <a:r>
              <a:rPr lang="en-US" dirty="0" smtClean="0">
                <a:latin typeface="Times New Roman" pitchFamily="18" charset="0"/>
                <a:cs typeface="Times New Roman" pitchFamily="18" charset="0"/>
              </a:rPr>
              <a:t>effectively </a:t>
            </a:r>
            <a:r>
              <a:rPr lang="en-US" dirty="0">
                <a:latin typeface="Times New Roman" pitchFamily="18" charset="0"/>
                <a:cs typeface="Times New Roman" pitchFamily="18" charset="0"/>
              </a:rPr>
              <a:t>implemented an operational prototype of the face mask and body temperature in this company. This company can be used in places where there are mass gatherings, such as universities, schools, workplaces, stores, </a:t>
            </a:r>
            <a:r>
              <a:rPr lang="en-US" dirty="0" err="1">
                <a:latin typeface="Times New Roman" pitchFamily="18" charset="0"/>
                <a:cs typeface="Times New Roman" pitchFamily="18" charset="0"/>
              </a:rPr>
              <a:t>etc</a:t>
            </a:r>
            <a:r>
              <a:rPr lang="en-US" dirty="0">
                <a:latin typeface="Times New Roman" pitchFamily="18" charset="0"/>
                <a:cs typeface="Times New Roman" pitchFamily="18" charset="0"/>
              </a:rPr>
              <a:t> . The system first detects if the character is wearing a mask and sends the records to the microcontroller. The non-contact temperature sensor reads the body temperature of a man or woman and, when checked, opens the barrier arm and allows the woman or man enter. With the help of this challenge , the automated response is implemented; Therefore no human needs to view COVID-19 protocols. The accuracy of facemask detection can be completed by marking the unit with a larger image dataset . Ultimately, detecting temperature of the mask and frame can help us reduce the massive accumulation of people in one place without a mask, reducing the possibility of  ignition. Experimental effects showed that the proposed method had better overall performance compared to the current algorithms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398544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ssss.jpeg"/>
          <p:cNvPicPr>
            <a:picLocks noChangeAspect="1"/>
          </p:cNvPicPr>
          <p:nvPr/>
        </p:nvPicPr>
        <p:blipFill>
          <a:blip r:embed="rId2"/>
          <a:stretch>
            <a:fillRect/>
          </a:stretch>
        </p:blipFill>
        <p:spPr>
          <a:xfrm>
            <a:off x="205482" y="1094960"/>
            <a:ext cx="11805007" cy="2554645"/>
          </a:xfrm>
          <a:prstGeom prst="rect">
            <a:avLst/>
          </a:prstGeom>
        </p:spPr>
      </p:pic>
      <p:sp>
        <p:nvSpPr>
          <p:cNvPr id="3" name="TextBox 2"/>
          <p:cNvSpPr txBox="1"/>
          <p:nvPr/>
        </p:nvSpPr>
        <p:spPr>
          <a:xfrm>
            <a:off x="378069" y="219808"/>
            <a:ext cx="3235569" cy="523220"/>
          </a:xfrm>
          <a:prstGeom prst="rect">
            <a:avLst/>
          </a:prstGeom>
          <a:noFill/>
        </p:spPr>
        <p:txBody>
          <a:bodyPr wrap="square" rtlCol="0">
            <a:spAutoFit/>
          </a:bodyPr>
          <a:lstStyle/>
          <a:p>
            <a:r>
              <a:rPr lang="en-IN" sz="2800" dirty="0" smtClean="0">
                <a:latin typeface="Times New Roman" panose="02020603050405020304" pitchFamily="18" charset="0"/>
                <a:cs typeface="Times New Roman" panose="02020603050405020304" pitchFamily="18" charset="0"/>
              </a:rPr>
              <a:t>REFERENCE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8668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member to Thank Your Partner, You Ungrateful Bastard"/>
          <p:cNvPicPr>
            <a:picLocks noChangeAspect="1" noChangeArrowheads="1"/>
          </p:cNvPicPr>
          <p:nvPr/>
        </p:nvPicPr>
        <p:blipFill>
          <a:blip r:embed="rId2"/>
          <a:srcRect/>
          <a:stretch>
            <a:fillRect/>
          </a:stretch>
        </p:blipFill>
        <p:spPr bwMode="auto">
          <a:xfrm>
            <a:off x="0" y="0"/>
            <a:ext cx="12192000" cy="68580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wheel spokes="8"/>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1255</Words>
  <Application>Microsoft Office PowerPoint</Application>
  <PresentationFormat>Widescreen</PresentationFormat>
  <Paragraphs>44</Paragraphs>
  <Slides>16</Slides>
  <Notes>0</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Pramod</cp:lastModifiedBy>
  <cp:revision>18</cp:revision>
  <dcterms:created xsi:type="dcterms:W3CDTF">2022-09-16T15:25:00Z</dcterms:created>
  <dcterms:modified xsi:type="dcterms:W3CDTF">2022-09-19T04:29:10Z</dcterms:modified>
</cp:coreProperties>
</file>